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23"/>
  </p:notesMasterIdLst>
  <p:sldIdLst>
    <p:sldId id="259" r:id="rId2"/>
    <p:sldId id="260" r:id="rId3"/>
    <p:sldId id="261" r:id="rId4"/>
    <p:sldId id="278" r:id="rId5"/>
    <p:sldId id="262" r:id="rId6"/>
    <p:sldId id="281" r:id="rId7"/>
    <p:sldId id="264" r:id="rId8"/>
    <p:sldId id="283" r:id="rId9"/>
    <p:sldId id="265" r:id="rId10"/>
    <p:sldId id="266" r:id="rId11"/>
    <p:sldId id="267" r:id="rId12"/>
    <p:sldId id="268" r:id="rId13"/>
    <p:sldId id="279" r:id="rId14"/>
    <p:sldId id="280" r:id="rId15"/>
    <p:sldId id="284" r:id="rId16"/>
    <p:sldId id="269" r:id="rId17"/>
    <p:sldId id="270" r:id="rId18"/>
    <p:sldId id="282" r:id="rId19"/>
    <p:sldId id="272" r:id="rId20"/>
    <p:sldId id="285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7DD0CEE-CFE0-4B22-BDF7-C7A9ED554B67}">
          <p14:sldIdLst>
            <p14:sldId id="259"/>
            <p14:sldId id="260"/>
            <p14:sldId id="261"/>
            <p14:sldId id="278"/>
            <p14:sldId id="262"/>
            <p14:sldId id="281"/>
            <p14:sldId id="264"/>
            <p14:sldId id="283"/>
            <p14:sldId id="265"/>
            <p14:sldId id="266"/>
            <p14:sldId id="267"/>
            <p14:sldId id="268"/>
            <p14:sldId id="279"/>
            <p14:sldId id="280"/>
            <p14:sldId id="284"/>
            <p14:sldId id="269"/>
            <p14:sldId id="270"/>
            <p14:sldId id="282"/>
            <p14:sldId id="272"/>
            <p14:sldId id="285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1CA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FB245-0DD3-4F5C-B223-708C23BB9439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B85919-583E-454C-BAFA-F45C31B7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269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E6E02-231A-426A-A781-4C453E08FC6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470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85919-583E-454C-BAFA-F45C31B7F6E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202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716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62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33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45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675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73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0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91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91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30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3640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996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0473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410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64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264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382C0-756A-497D-BD7F-24ABFCA65B06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A223148-E4D4-40AA-8D95-8A059D2F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237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92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8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06943"/>
              </p:ext>
            </p:extLst>
          </p:nvPr>
        </p:nvGraphicFramePr>
        <p:xfrm>
          <a:off x="1913641" y="263951"/>
          <a:ext cx="824635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6359"/>
              </a:tblGrid>
              <a:tr h="826555">
                <a:tc>
                  <a:txBody>
                    <a:bodyPr/>
                    <a:lstStyle/>
                    <a:p>
                      <a:pPr algn="ctr"/>
                      <a:r>
                        <a:rPr lang="en-IN" sz="7200" dirty="0" smtClean="0">
                          <a:latin typeface="Bookman Old Style" panose="02050604050505020204" pitchFamily="18" charset="0"/>
                        </a:rPr>
                        <a:t>SQL SQUAD</a:t>
                      </a:r>
                      <a:endParaRPr lang="en-IN" sz="7200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722" y="1931703"/>
            <a:ext cx="1126503" cy="11265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092" y="1931703"/>
            <a:ext cx="1126503" cy="11265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591" y="1931704"/>
            <a:ext cx="1126503" cy="11265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469" y="1931704"/>
            <a:ext cx="1126503" cy="112650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81281"/>
              </p:ext>
            </p:extLst>
          </p:nvPr>
        </p:nvGraphicFramePr>
        <p:xfrm>
          <a:off x="1534160" y="3055847"/>
          <a:ext cx="1435284" cy="5181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35284"/>
              </a:tblGrid>
              <a:tr h="429033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/>
                        <a:t>GAYATRI BHAVAR</a:t>
                      </a:r>
                      <a:endParaRPr lang="en-IN" sz="14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380954"/>
              </p:ext>
            </p:extLst>
          </p:nvPr>
        </p:nvGraphicFramePr>
        <p:xfrm>
          <a:off x="3950223" y="3055848"/>
          <a:ext cx="1415200" cy="51816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415200"/>
              </a:tblGrid>
              <a:tr h="309522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RINKU  KATOLE</a:t>
                      </a:r>
                      <a:endParaRPr lang="en-IN" sz="14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26989"/>
              </p:ext>
            </p:extLst>
          </p:nvPr>
        </p:nvGraphicFramePr>
        <p:xfrm>
          <a:off x="5831840" y="3055849"/>
          <a:ext cx="1544320" cy="3352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44320"/>
              </a:tblGrid>
              <a:tr h="327431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DIVYA  BARI</a:t>
                      </a:r>
                      <a:endParaRPr lang="en-IN" sz="16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992382"/>
              </p:ext>
            </p:extLst>
          </p:nvPr>
        </p:nvGraphicFramePr>
        <p:xfrm>
          <a:off x="10407192" y="3055847"/>
          <a:ext cx="1150646" cy="37550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50646"/>
              </a:tblGrid>
              <a:tr h="375509">
                <a:tc>
                  <a:txBody>
                    <a:bodyPr/>
                    <a:lstStyle/>
                    <a:p>
                      <a:r>
                        <a:rPr lang="en-IN" dirty="0" smtClean="0"/>
                        <a:t> SARIKA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458650"/>
              </p:ext>
            </p:extLst>
          </p:nvPr>
        </p:nvGraphicFramePr>
        <p:xfrm>
          <a:off x="8067040" y="3055848"/>
          <a:ext cx="1717983" cy="42903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17983"/>
              </a:tblGrid>
              <a:tr h="429032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KESHAR GUPTA</a:t>
                      </a:r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105368"/>
              </p:ext>
            </p:extLst>
          </p:nvPr>
        </p:nvGraphicFramePr>
        <p:xfrm>
          <a:off x="6695440" y="5415280"/>
          <a:ext cx="3566160" cy="975360"/>
        </p:xfrm>
        <a:graphic>
          <a:graphicData uri="http://schemas.openxmlformats.org/drawingml/2006/table">
            <a:tbl>
              <a:tblPr firstRow="1">
                <a:tableStyleId>{8A107856-5554-42FB-B03E-39F5DBC370BA}</a:tableStyleId>
              </a:tblPr>
              <a:tblGrid>
                <a:gridCol w="3566160"/>
              </a:tblGrid>
              <a:tr h="975360">
                <a:tc>
                  <a:txBody>
                    <a:bodyPr/>
                    <a:lstStyle/>
                    <a:p>
                      <a:pPr marL="457200" lvl="1" algn="ctr" defTabSz="914400" rtl="0" eaLnBrk="1" latinLnBrk="0" hangingPunct="1">
                        <a:lnSpc>
                          <a:spcPct val="300000"/>
                        </a:lnSpc>
                      </a:pPr>
                      <a:r>
                        <a:rPr lang="en-IN" sz="1800" u="sng" kern="12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gerian" panose="04020705040A02060702" pitchFamily="82" charset="0"/>
                        </a:rPr>
                        <a:t>TRAINER  VIKAS KALAL</a:t>
                      </a:r>
                      <a:endParaRPr lang="en-IN" sz="1800" b="1" u="sng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gerian" panose="04020705040A02060702" pitchFamily="82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814" y="5093094"/>
            <a:ext cx="1297546" cy="129754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815" y="1843824"/>
            <a:ext cx="1212024" cy="12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402879"/>
              </p:ext>
            </p:extLst>
          </p:nvPr>
        </p:nvGraphicFramePr>
        <p:xfrm>
          <a:off x="235130" y="274320"/>
          <a:ext cx="7740469" cy="3174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0469"/>
              </a:tblGrid>
              <a:tr h="3174274">
                <a:tc>
                  <a:txBody>
                    <a:bodyPr/>
                    <a:lstStyle/>
                    <a:p>
                      <a:r>
                        <a:rPr lang="en-US" sz="40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INTRO-:</a:t>
                      </a:r>
                    </a:p>
                    <a:p>
                      <a:endParaRPr lang="en-US" dirty="0" smtClean="0"/>
                    </a:p>
                    <a:p>
                      <a:r>
                        <a:rPr lang="en-US" sz="2400" dirty="0" smtClean="0"/>
                        <a:t>An </a:t>
                      </a:r>
                      <a:r>
                        <a:rPr lang="en-US" sz="2400" b="1" dirty="0" smtClean="0"/>
                        <a:t>Online Training Management System (0TMS)</a:t>
                      </a:r>
                      <a:r>
                        <a:rPr lang="en-US" sz="2400" dirty="0" smtClean="0"/>
                        <a:t> is a software platform designed to </a:t>
                      </a:r>
                      <a:r>
                        <a:rPr lang="en-US" sz="2400" b="1" dirty="0" smtClean="0"/>
                        <a:t>streamline, automate, and manage training programs</a:t>
                      </a:r>
                      <a:r>
                        <a:rPr lang="en-US" sz="2400" dirty="0" smtClean="0"/>
                        <a:t>—especially in corporate, educational, or professional development settings.</a:t>
                      </a:r>
                      <a:endParaRPr lang="en-IN" sz="2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720" y="3677921"/>
            <a:ext cx="4980800" cy="298508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938990"/>
              </p:ext>
            </p:extLst>
          </p:nvPr>
        </p:nvGraphicFramePr>
        <p:xfrm>
          <a:off x="235130" y="3677921"/>
          <a:ext cx="5668366" cy="2985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8366"/>
              </a:tblGrid>
              <a:tr h="2985082">
                <a:tc>
                  <a:txBody>
                    <a:bodyPr/>
                    <a:lstStyle/>
                    <a:p>
                      <a:r>
                        <a:rPr lang="en-IN" sz="2400" b="1" u="sng" dirty="0" smtClean="0">
                          <a:solidFill>
                            <a:schemeClr val="tx1"/>
                          </a:solidFill>
                        </a:rPr>
                        <a:t>🎯 GOALS</a:t>
                      </a:r>
                    </a:p>
                    <a:p>
                      <a:endParaRPr lang="en-IN" sz="2400" b="1" u="sng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2000" dirty="0" smtClean="0"/>
                        <a:t>Centralized Learning Platform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2000" dirty="0" smtClean="0"/>
                        <a:t>24/7 Access to Learning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2000" dirty="0" smtClean="0"/>
                        <a:t>Track Learner Progress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2000" dirty="0" smtClean="0"/>
                        <a:t>Improve Training Efficiency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2000" dirty="0" smtClean="0"/>
                        <a:t>✅ </a:t>
                      </a:r>
                      <a:r>
                        <a:rPr lang="en-IN" sz="2000" b="1" dirty="0" smtClean="0"/>
                        <a:t>Save Time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2000" dirty="0" smtClean="0"/>
                        <a:t>🕒 </a:t>
                      </a:r>
                      <a:r>
                        <a:rPr lang="en-IN" sz="2000" b="1" dirty="0" smtClean="0"/>
                        <a:t>Flexible Timing</a:t>
                      </a:r>
                      <a:endParaRPr lang="en-US" sz="2000" dirty="0" smtClean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6427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3296" y="786868"/>
            <a:ext cx="1552575" cy="52300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82437" tIns="41218" rIns="82437" bIns="41218" spcCol="0" rtlCol="0" anchor="ctr"/>
          <a:lstStyle/>
          <a:p>
            <a:pPr algn="ctr"/>
            <a:r>
              <a:rPr lang="en-US" sz="1400" dirty="0"/>
              <a:t>USERS</a:t>
            </a:r>
            <a:endParaRPr lang="en-IN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703588" y="1319514"/>
            <a:ext cx="1565915" cy="15906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82437" tIns="41218" rIns="82437" bIns="41218" rtlCol="0">
            <a:spAutoFit/>
          </a:bodyPr>
          <a:lstStyle/>
          <a:p>
            <a:r>
              <a:rPr lang="en-US" sz="1400" dirty="0"/>
              <a:t>USER_ID</a:t>
            </a:r>
          </a:p>
          <a:p>
            <a:r>
              <a:rPr lang="en-US" sz="1400" dirty="0"/>
              <a:t>NAME</a:t>
            </a:r>
          </a:p>
          <a:p>
            <a:r>
              <a:rPr lang="en-US" sz="1400" dirty="0"/>
              <a:t>EMAIL</a:t>
            </a:r>
          </a:p>
          <a:p>
            <a:r>
              <a:rPr lang="en-US" sz="1400" dirty="0"/>
              <a:t>PASSWORD</a:t>
            </a:r>
          </a:p>
          <a:p>
            <a:r>
              <a:rPr lang="en-US" sz="1400" dirty="0"/>
              <a:t>REG_DATE</a:t>
            </a:r>
          </a:p>
          <a:p>
            <a:r>
              <a:rPr lang="en-US" sz="1400" dirty="0"/>
              <a:t>ROLE </a:t>
            </a:r>
          </a:p>
          <a:p>
            <a:r>
              <a:rPr lang="en-US" sz="1400" dirty="0" smtClean="0">
                <a:solidFill>
                  <a:schemeClr val="accent3">
                    <a:lumMod val="50000"/>
                  </a:schemeClr>
                </a:solidFill>
              </a:rPr>
              <a:t>            </a:t>
            </a:r>
            <a:r>
              <a:rPr lang="en-US" sz="1200" u="sng" dirty="0">
                <a:solidFill>
                  <a:schemeClr val="accent3">
                    <a:lumMod val="50000"/>
                  </a:schemeClr>
                </a:solidFill>
              </a:rPr>
              <a:t>1</a:t>
            </a:r>
            <a:endParaRPr lang="en-IN" sz="1200" u="sng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94698" y="334706"/>
            <a:ext cx="1893844" cy="3915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82437" tIns="41218" rIns="82437" bIns="41218" spcCol="0" rtlCol="0" anchor="ctr"/>
          <a:lstStyle/>
          <a:p>
            <a:pPr algn="ctr"/>
            <a:r>
              <a:rPr lang="en-US" sz="1400" dirty="0"/>
              <a:t>COURSES</a:t>
            </a:r>
            <a:endParaRPr lang="en-IN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6287309" y="748477"/>
            <a:ext cx="1895148" cy="23761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82437" tIns="41218" rIns="82437" bIns="41218" rtlCol="0">
            <a:spAutoFit/>
          </a:bodyPr>
          <a:lstStyle/>
          <a:p>
            <a:r>
              <a:rPr lang="en-US" sz="1400" dirty="0"/>
              <a:t>COURSE_ID </a:t>
            </a:r>
          </a:p>
          <a:p>
            <a:r>
              <a:rPr lang="en-US" sz="1400" dirty="0"/>
              <a:t>USER_ID</a:t>
            </a:r>
          </a:p>
          <a:p>
            <a:r>
              <a:rPr lang="en-US" sz="1400" dirty="0"/>
              <a:t>COURSE_NAME </a:t>
            </a:r>
          </a:p>
          <a:p>
            <a:r>
              <a:rPr lang="en-US" sz="1400" dirty="0"/>
              <a:t>DESCRIPTION</a:t>
            </a:r>
          </a:p>
          <a:p>
            <a:r>
              <a:rPr lang="en-US" sz="1400" dirty="0" smtClean="0"/>
              <a:t>DURATION</a:t>
            </a:r>
          </a:p>
          <a:p>
            <a:r>
              <a:rPr lang="en-US" sz="1400" dirty="0" smtClean="0"/>
              <a:t>FEES</a:t>
            </a:r>
            <a:endParaRPr lang="en-US" sz="1400" dirty="0"/>
          </a:p>
          <a:p>
            <a:r>
              <a:rPr lang="en-US" sz="1400" dirty="0"/>
              <a:t>TRAINER_ID</a:t>
            </a:r>
          </a:p>
          <a:p>
            <a:r>
              <a:rPr lang="en-US" sz="1400" dirty="0"/>
              <a:t>START_DATE</a:t>
            </a:r>
          </a:p>
          <a:p>
            <a:r>
              <a:rPr lang="en-US" sz="1400" dirty="0" smtClean="0"/>
              <a:t>END_DATE</a:t>
            </a:r>
          </a:p>
          <a:p>
            <a:r>
              <a:rPr lang="en-US" sz="1400" dirty="0" smtClean="0"/>
              <a:t>CATEGORY_ID</a:t>
            </a:r>
            <a:endParaRPr lang="en-US" sz="1400" dirty="0"/>
          </a:p>
          <a:p>
            <a:pPr algn="ctr"/>
            <a:r>
              <a:rPr lang="en-US" sz="1000" u="sng" dirty="0" smtClean="0">
                <a:solidFill>
                  <a:schemeClr val="accent3">
                    <a:lumMod val="50000"/>
                  </a:schemeClr>
                </a:solidFill>
              </a:rPr>
              <a:t>M</a:t>
            </a:r>
            <a:endParaRPr lang="en-IN" sz="1000" u="sng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916434" y="2033131"/>
            <a:ext cx="1653146" cy="3576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82437" tIns="41218" rIns="82437" bIns="41218" spcCol="0" rtlCol="0" anchor="ctr"/>
          <a:lstStyle/>
          <a:p>
            <a:pPr algn="ctr"/>
            <a:r>
              <a:rPr lang="en-US" sz="1400" dirty="0"/>
              <a:t>SCHEDULE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9916433" y="2390775"/>
            <a:ext cx="1675491" cy="1621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82437" tIns="41218" rIns="82437" bIns="41218" rtlCol="0">
            <a:spAutoFit/>
          </a:bodyPr>
          <a:lstStyle/>
          <a:p>
            <a:r>
              <a:rPr lang="en-US" sz="1400" dirty="0"/>
              <a:t>SCHEDULE_ID</a:t>
            </a:r>
          </a:p>
          <a:p>
            <a:r>
              <a:rPr lang="en-US" sz="1400" dirty="0"/>
              <a:t>COURSE_ID</a:t>
            </a:r>
          </a:p>
          <a:p>
            <a:r>
              <a:rPr lang="en-US" sz="1400" dirty="0"/>
              <a:t>SESSION_DATE</a:t>
            </a:r>
          </a:p>
          <a:p>
            <a:r>
              <a:rPr lang="en-US" sz="1400" dirty="0"/>
              <a:t>START_TIME</a:t>
            </a:r>
          </a:p>
          <a:p>
            <a:r>
              <a:rPr lang="en-US" sz="1400" dirty="0"/>
              <a:t>END_TIME</a:t>
            </a:r>
          </a:p>
          <a:p>
            <a:r>
              <a:rPr lang="en-US" sz="1400" dirty="0"/>
              <a:t>TOPIC</a:t>
            </a:r>
          </a:p>
          <a:p>
            <a:endParaRPr lang="en-IN" sz="1400" dirty="0"/>
          </a:p>
        </p:txBody>
      </p:sp>
      <p:sp>
        <p:nvSpPr>
          <p:cNvPr id="12" name="Rectangle 11"/>
          <p:cNvSpPr/>
          <p:nvPr/>
        </p:nvSpPr>
        <p:spPr>
          <a:xfrm>
            <a:off x="2246986" y="4903699"/>
            <a:ext cx="1756054" cy="51201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82437" tIns="41218" rIns="82437" bIns="41218" spcCol="0" rtlCol="0" anchor="ctr"/>
          <a:lstStyle/>
          <a:p>
            <a:pPr algn="ctr"/>
            <a:r>
              <a:rPr lang="en-US" sz="1400" dirty="0"/>
              <a:t>FEEDBACK</a:t>
            </a:r>
            <a:endParaRPr lang="en-IN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2246986" y="5415713"/>
            <a:ext cx="1749756" cy="11604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82437" tIns="41218" rIns="82437" bIns="41218" rtlCol="0">
            <a:spAutoFit/>
          </a:bodyPr>
          <a:lstStyle/>
          <a:p>
            <a:r>
              <a:rPr lang="en-US" sz="1400" dirty="0"/>
              <a:t>FEEDBACK_ID</a:t>
            </a:r>
          </a:p>
          <a:p>
            <a:r>
              <a:rPr lang="en-US" sz="1400" dirty="0"/>
              <a:t>USER_ID</a:t>
            </a:r>
          </a:p>
          <a:p>
            <a:r>
              <a:rPr lang="en-US" sz="1400" dirty="0"/>
              <a:t>COURSE_ID</a:t>
            </a:r>
          </a:p>
          <a:p>
            <a:r>
              <a:rPr lang="en-US" sz="1400" dirty="0"/>
              <a:t>ISSUE_DATE</a:t>
            </a:r>
          </a:p>
          <a:p>
            <a:r>
              <a:rPr lang="en-US" sz="1400" dirty="0"/>
              <a:t>DATE</a:t>
            </a:r>
            <a:endParaRPr lang="en-IN" sz="1400" dirty="0"/>
          </a:p>
        </p:txBody>
      </p:sp>
      <p:sp>
        <p:nvSpPr>
          <p:cNvPr id="85" name="Rectangle 84"/>
          <p:cNvSpPr/>
          <p:nvPr/>
        </p:nvSpPr>
        <p:spPr>
          <a:xfrm>
            <a:off x="9916434" y="4369925"/>
            <a:ext cx="1751691" cy="4497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82437" tIns="41218" rIns="82437" bIns="41218" spcCol="0" rtlCol="0" anchor="ctr"/>
          <a:lstStyle/>
          <a:p>
            <a:pPr algn="ctr"/>
            <a:r>
              <a:rPr lang="en-US" sz="1400" dirty="0"/>
              <a:t>ASSESMENT</a:t>
            </a:r>
            <a:endParaRPr lang="en-IN" sz="1400" dirty="0"/>
          </a:p>
        </p:txBody>
      </p:sp>
      <p:sp>
        <p:nvSpPr>
          <p:cNvPr id="86" name="TextBox 85"/>
          <p:cNvSpPr txBox="1"/>
          <p:nvPr/>
        </p:nvSpPr>
        <p:spPr>
          <a:xfrm>
            <a:off x="9916433" y="4819650"/>
            <a:ext cx="1751692" cy="115438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82437" tIns="41218" rIns="82437" bIns="41218" rtlCol="0">
            <a:spAutoFit/>
          </a:bodyPr>
          <a:lstStyle/>
          <a:p>
            <a:r>
              <a:rPr lang="en-US" sz="1400" dirty="0"/>
              <a:t>ASSESMENT_ID</a:t>
            </a:r>
          </a:p>
          <a:p>
            <a:r>
              <a:rPr lang="en-US" sz="1400" dirty="0"/>
              <a:t>COURSE_ID</a:t>
            </a:r>
          </a:p>
          <a:p>
            <a:r>
              <a:rPr lang="en-US" sz="1400" dirty="0"/>
              <a:t>TITLE</a:t>
            </a:r>
          </a:p>
          <a:p>
            <a:r>
              <a:rPr lang="en-US" sz="1400" dirty="0"/>
              <a:t>TOTAL_MARKS</a:t>
            </a:r>
          </a:p>
          <a:p>
            <a:r>
              <a:rPr lang="en-US" sz="1400" dirty="0"/>
              <a:t>DATE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87967" y="4471768"/>
            <a:ext cx="1591754" cy="68512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82437" tIns="41218" rIns="82437" bIns="41218" spcCol="0" rtlCol="0" anchor="ctr"/>
          <a:lstStyle/>
          <a:p>
            <a:pPr algn="ctr"/>
            <a:r>
              <a:rPr lang="en-US" sz="1400" dirty="0"/>
              <a:t>ENROLLMENT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7252" y="5174841"/>
            <a:ext cx="1588257" cy="12038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82437" tIns="41218" rIns="82437" bIns="41218" rtlCol="0">
            <a:spAutoFit/>
          </a:bodyPr>
          <a:lstStyle/>
          <a:p>
            <a:r>
              <a:rPr lang="en-US" sz="1400" dirty="0"/>
              <a:t>ENROLL_ID</a:t>
            </a:r>
          </a:p>
          <a:p>
            <a:r>
              <a:rPr lang="en-US" sz="1400" dirty="0"/>
              <a:t>USER_ID</a:t>
            </a:r>
          </a:p>
          <a:p>
            <a:r>
              <a:rPr lang="en-US" sz="1400" dirty="0"/>
              <a:t>COURSE_ID</a:t>
            </a:r>
          </a:p>
          <a:p>
            <a:r>
              <a:rPr lang="en-US" sz="1400" dirty="0"/>
              <a:t>ENROLL_DATE</a:t>
            </a:r>
          </a:p>
          <a:p>
            <a:r>
              <a:rPr lang="en-US" sz="1400" dirty="0"/>
              <a:t>STATUS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859796" y="218545"/>
            <a:ext cx="1709784" cy="4647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82437" tIns="41218" rIns="82437" bIns="41218" spcCol="0" rtlCol="0" anchor="ctr"/>
          <a:lstStyle/>
          <a:p>
            <a:pPr algn="ctr"/>
            <a:r>
              <a:rPr lang="en-US" sz="1400" dirty="0"/>
              <a:t>RESULTS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883102" y="698124"/>
            <a:ext cx="1686478" cy="945015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  <a:prstDash val="soli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82437" tIns="41218" rIns="82437" bIns="41218" rtlCol="0">
            <a:spAutoFit/>
          </a:bodyPr>
          <a:lstStyle/>
          <a:p>
            <a:r>
              <a:rPr lang="en-US" sz="1400" dirty="0"/>
              <a:t>RESULT_ID</a:t>
            </a:r>
          </a:p>
          <a:p>
            <a:r>
              <a:rPr lang="en-US" sz="1400" dirty="0"/>
              <a:t>ASSESMENT_ID</a:t>
            </a:r>
          </a:p>
          <a:p>
            <a:r>
              <a:rPr lang="en-US" sz="1400" dirty="0"/>
              <a:t>USER_ID</a:t>
            </a:r>
          </a:p>
          <a:p>
            <a:r>
              <a:rPr lang="en-US" sz="1400" dirty="0"/>
              <a:t>MARKS_OBTAINED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408689" y="4828060"/>
            <a:ext cx="1580548" cy="5535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82437" tIns="41218" rIns="82437" bIns="41218" spcCol="0" rtlCol="0" anchor="ctr"/>
          <a:lstStyle/>
          <a:p>
            <a:pPr algn="ctr"/>
            <a:r>
              <a:rPr lang="en-US" sz="1600" dirty="0"/>
              <a:t>CERTIFICATE</a:t>
            </a:r>
            <a:endParaRPr lang="en-IN" sz="1600" dirty="0"/>
          </a:p>
        </p:txBody>
      </p:sp>
      <p:sp>
        <p:nvSpPr>
          <p:cNvPr id="195" name="TextBox 194"/>
          <p:cNvSpPr txBox="1"/>
          <p:nvPr/>
        </p:nvSpPr>
        <p:spPr>
          <a:xfrm>
            <a:off x="4408689" y="5396844"/>
            <a:ext cx="1580549" cy="945015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  <a:prstDash val="soli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82437" tIns="41218" rIns="82437" bIns="41218" rtlCol="0">
            <a:spAutoFit/>
          </a:bodyPr>
          <a:lstStyle/>
          <a:p>
            <a:r>
              <a:rPr lang="en-US" sz="1400" dirty="0"/>
              <a:t>CERTIFICATE_ID</a:t>
            </a:r>
          </a:p>
          <a:p>
            <a:r>
              <a:rPr lang="en-US" sz="1400" dirty="0"/>
              <a:t>USER_ID</a:t>
            </a:r>
          </a:p>
          <a:p>
            <a:r>
              <a:rPr lang="en-US" sz="1400" dirty="0"/>
              <a:t>COURSE_ID</a:t>
            </a:r>
          </a:p>
          <a:p>
            <a:r>
              <a:rPr lang="en-US" sz="1400" dirty="0"/>
              <a:t>ISSUE_DATE</a:t>
            </a:r>
            <a:endParaRPr lang="en-IN" sz="1400" dirty="0"/>
          </a:p>
        </p:txBody>
      </p:sp>
      <p:sp>
        <p:nvSpPr>
          <p:cNvPr id="196" name="Rectangle 195"/>
          <p:cNvSpPr/>
          <p:nvPr/>
        </p:nvSpPr>
        <p:spPr>
          <a:xfrm>
            <a:off x="4201388" y="2440564"/>
            <a:ext cx="1694014" cy="3645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82437" tIns="41218" rIns="82437" bIns="41218" spcCol="0" rtlCol="0" anchor="ctr"/>
          <a:lstStyle/>
          <a:p>
            <a:pPr algn="ctr"/>
            <a:r>
              <a:rPr lang="en-US" sz="1600" dirty="0"/>
              <a:t>PAYMENT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205282" y="2829045"/>
            <a:ext cx="1690121" cy="1375903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  <a:prstDash val="soli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82437" tIns="41218" rIns="82437" bIns="41218" rtlCol="0">
            <a:spAutoFit/>
          </a:bodyPr>
          <a:lstStyle/>
          <a:p>
            <a:r>
              <a:rPr lang="en-US" sz="1400" dirty="0"/>
              <a:t>PAYMENT_ID</a:t>
            </a:r>
          </a:p>
          <a:p>
            <a:r>
              <a:rPr lang="en-US" sz="1400" dirty="0"/>
              <a:t>USER_ID</a:t>
            </a:r>
          </a:p>
          <a:p>
            <a:r>
              <a:rPr lang="en-US" sz="1400" dirty="0"/>
              <a:t>COURSE_ID</a:t>
            </a:r>
          </a:p>
          <a:p>
            <a:r>
              <a:rPr lang="en-US" sz="1400" dirty="0"/>
              <a:t>AMOUNT</a:t>
            </a:r>
          </a:p>
          <a:p>
            <a:r>
              <a:rPr lang="en-US" sz="1400" dirty="0"/>
              <a:t>PAY_METHOD</a:t>
            </a:r>
          </a:p>
          <a:p>
            <a:r>
              <a:rPr lang="en-US" sz="1400" dirty="0"/>
              <a:t>P_DATE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7984963" y="4903948"/>
            <a:ext cx="1669993" cy="56306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82437" tIns="41218" rIns="82437" bIns="41218" spcCol="0" rtlCol="0" anchor="ctr"/>
          <a:lstStyle/>
          <a:p>
            <a:pPr algn="ctr"/>
            <a:r>
              <a:rPr lang="en-US" sz="1600" dirty="0"/>
              <a:t>ANNOUNCEMENT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984963" y="5466080"/>
            <a:ext cx="1667037" cy="1319287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  <a:prstDash val="soli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82437" tIns="41218" rIns="82437" bIns="41218" rtlCol="0">
            <a:spAutoFit/>
          </a:bodyPr>
          <a:lstStyle/>
          <a:p>
            <a:r>
              <a:rPr lang="en-US" sz="1600" dirty="0"/>
              <a:t>COURSE_ID</a:t>
            </a:r>
          </a:p>
          <a:p>
            <a:r>
              <a:rPr lang="en-US" sz="1600" dirty="0"/>
              <a:t>ANNOUNCE_ID</a:t>
            </a:r>
          </a:p>
          <a:p>
            <a:r>
              <a:rPr lang="en-US" sz="1600" dirty="0"/>
              <a:t>DATE/TIME</a:t>
            </a:r>
          </a:p>
          <a:p>
            <a:r>
              <a:rPr lang="en-US" sz="1600" dirty="0"/>
              <a:t>TITLE</a:t>
            </a:r>
          </a:p>
          <a:p>
            <a:r>
              <a:rPr lang="en-US" sz="1600" dirty="0"/>
              <a:t>MESSAGE</a:t>
            </a:r>
          </a:p>
        </p:txBody>
      </p:sp>
      <p:graphicFrame>
        <p:nvGraphicFramePr>
          <p:cNvPr id="1068" name="Table 10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46433"/>
              </p:ext>
            </p:extLst>
          </p:nvPr>
        </p:nvGraphicFramePr>
        <p:xfrm>
          <a:off x="4066096" y="308452"/>
          <a:ext cx="1601278" cy="3657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601278"/>
              </a:tblGrid>
              <a:tr h="332735">
                <a:tc>
                  <a:txBody>
                    <a:bodyPr/>
                    <a:lstStyle/>
                    <a:p>
                      <a:r>
                        <a:rPr lang="en-IN" dirty="0" smtClean="0"/>
                        <a:t>CATEGORY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69" name="Table 10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548832"/>
              </p:ext>
            </p:extLst>
          </p:nvPr>
        </p:nvGraphicFramePr>
        <p:xfrm>
          <a:off x="4057650" y="719667"/>
          <a:ext cx="1609725" cy="5998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9725"/>
              </a:tblGrid>
              <a:tr h="599847">
                <a:tc>
                  <a:txBody>
                    <a:bodyPr/>
                    <a:lstStyle/>
                    <a:p>
                      <a:r>
                        <a:rPr lang="en-IN" sz="1400" b="0" i="0" dirty="0" smtClean="0"/>
                        <a:t>CATEGORY_ID</a:t>
                      </a:r>
                    </a:p>
                    <a:p>
                      <a:r>
                        <a:rPr lang="en-IN" sz="1400" b="0" i="0" dirty="0" smtClean="0"/>
                        <a:t>CATEGORY_NAME</a:t>
                      </a:r>
                      <a:endParaRPr lang="en-IN" sz="1400" b="0" i="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73" name="Straight Arrow Connector 1072"/>
          <p:cNvCxnSpPr>
            <a:stCxn id="6" idx="2"/>
            <a:endCxn id="87" idx="0"/>
          </p:cNvCxnSpPr>
          <p:nvPr/>
        </p:nvCxnSpPr>
        <p:spPr>
          <a:xfrm flipH="1">
            <a:off x="1183844" y="2910189"/>
            <a:ext cx="302702" cy="1561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Arrow Connector 1086"/>
          <p:cNvCxnSpPr>
            <a:stCxn id="6" idx="2"/>
            <a:endCxn id="12" idx="0"/>
          </p:cNvCxnSpPr>
          <p:nvPr/>
        </p:nvCxnSpPr>
        <p:spPr>
          <a:xfrm>
            <a:off x="1486546" y="2910189"/>
            <a:ext cx="1638467" cy="1993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>
            <a:endCxn id="194" idx="1"/>
          </p:cNvCxnSpPr>
          <p:nvPr/>
        </p:nvCxnSpPr>
        <p:spPr>
          <a:xfrm>
            <a:off x="1509149" y="2889054"/>
            <a:ext cx="2899540" cy="2215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lbow Connector 162"/>
          <p:cNvCxnSpPr/>
          <p:nvPr/>
        </p:nvCxnSpPr>
        <p:spPr>
          <a:xfrm>
            <a:off x="2133600" y="2926080"/>
            <a:ext cx="2082310" cy="5800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>
            <a:stCxn id="9" idx="2"/>
            <a:endCxn id="202" idx="0"/>
          </p:cNvCxnSpPr>
          <p:nvPr/>
        </p:nvCxnSpPr>
        <p:spPr>
          <a:xfrm>
            <a:off x="7234883" y="3124653"/>
            <a:ext cx="1585077" cy="1779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/>
          <p:cNvCxnSpPr>
            <a:stCxn id="9" idx="2"/>
            <a:endCxn id="85" idx="1"/>
          </p:cNvCxnSpPr>
          <p:nvPr/>
        </p:nvCxnSpPr>
        <p:spPr>
          <a:xfrm>
            <a:off x="7234883" y="3124653"/>
            <a:ext cx="2681551" cy="1470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/>
          <p:nvPr/>
        </p:nvCxnSpPr>
        <p:spPr>
          <a:xfrm>
            <a:off x="7876537" y="2013085"/>
            <a:ext cx="2006565" cy="1298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>
            <a:stCxn id="9" idx="3"/>
            <a:endCxn id="193" idx="1"/>
          </p:cNvCxnSpPr>
          <p:nvPr/>
        </p:nvCxnSpPr>
        <p:spPr>
          <a:xfrm flipV="1">
            <a:off x="8182457" y="1170632"/>
            <a:ext cx="1700645" cy="7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>
            <a:stCxn id="1069" idx="2"/>
            <a:endCxn id="9" idx="1"/>
          </p:cNvCxnSpPr>
          <p:nvPr/>
        </p:nvCxnSpPr>
        <p:spPr>
          <a:xfrm>
            <a:off x="4862512" y="1319514"/>
            <a:ext cx="1424797" cy="617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/>
          <p:cNvCxnSpPr>
            <a:stCxn id="9" idx="2"/>
            <a:endCxn id="9" idx="2"/>
          </p:cNvCxnSpPr>
          <p:nvPr/>
        </p:nvCxnSpPr>
        <p:spPr>
          <a:xfrm>
            <a:off x="7234883" y="3124653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/>
          <p:cNvCxnSpPr>
            <a:stCxn id="9" idx="1"/>
            <a:endCxn id="197" idx="3"/>
          </p:cNvCxnSpPr>
          <p:nvPr/>
        </p:nvCxnSpPr>
        <p:spPr>
          <a:xfrm flipH="1">
            <a:off x="5895403" y="1936565"/>
            <a:ext cx="391906" cy="1580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2601675" y="107340"/>
            <a:ext cx="1232387" cy="3484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LOCATION</a:t>
            </a:r>
            <a:endParaRPr lang="en-IN" sz="1400" dirty="0"/>
          </a:p>
        </p:txBody>
      </p:sp>
      <p:sp>
        <p:nvSpPr>
          <p:cNvPr id="3" name="Rectangle 2"/>
          <p:cNvSpPr/>
          <p:nvPr/>
        </p:nvSpPr>
        <p:spPr>
          <a:xfrm>
            <a:off x="2614520" y="483251"/>
            <a:ext cx="1219542" cy="9779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</a:rPr>
              <a:t>LOC_NAME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USER_ID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COURSE_ID</a:t>
            </a:r>
          </a:p>
        </p:txBody>
      </p:sp>
      <p:cxnSp>
        <p:nvCxnSpPr>
          <p:cNvPr id="20" name="Straight Arrow Connector 19"/>
          <p:cNvCxnSpPr>
            <a:stCxn id="3" idx="2"/>
            <a:endCxn id="6" idx="3"/>
          </p:cNvCxnSpPr>
          <p:nvPr/>
        </p:nvCxnSpPr>
        <p:spPr>
          <a:xfrm flipH="1">
            <a:off x="2269503" y="1461156"/>
            <a:ext cx="954788" cy="653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3" idx="2"/>
            <a:endCxn id="9" idx="1"/>
          </p:cNvCxnSpPr>
          <p:nvPr/>
        </p:nvCxnSpPr>
        <p:spPr>
          <a:xfrm>
            <a:off x="3224291" y="1461156"/>
            <a:ext cx="3063018" cy="475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246388"/>
              </p:ext>
            </p:extLst>
          </p:nvPr>
        </p:nvGraphicFramePr>
        <p:xfrm>
          <a:off x="209005" y="101743"/>
          <a:ext cx="1770715" cy="51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715"/>
              </a:tblGrid>
              <a:tr h="4839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lonna MT" panose="04020805060202030203" pitchFamily="82" charset="0"/>
                        </a:rPr>
                        <a:t>ER DIAGRAM</a:t>
                      </a:r>
                      <a:endParaRPr lang="en-IN" sz="2000" b="1" dirty="0">
                        <a:solidFill>
                          <a:schemeClr val="tx2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lonna MT" panose="04020805060202030203" pitchFamily="82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2" name="Straight Arrow Connector 81"/>
          <p:cNvCxnSpPr/>
          <p:nvPr/>
        </p:nvCxnSpPr>
        <p:spPr>
          <a:xfrm flipV="1">
            <a:off x="2320155" y="2012298"/>
            <a:ext cx="3974543" cy="68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1133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1" y="350520"/>
            <a:ext cx="8412480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oadway" panose="04040905080B02020502" pitchFamily="82" charset="0"/>
              </a:rPr>
              <a:t>TABLE CREATION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5642" y="4267200"/>
            <a:ext cx="1140593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USER_ID </a:t>
            </a:r>
            <a:r>
              <a:rPr lang="en-IN" b="1" dirty="0" smtClean="0"/>
              <a:t>  USERNAME      </a:t>
            </a:r>
            <a:r>
              <a:rPr lang="en-IN" b="1" dirty="0"/>
              <a:t>EMAIL                  </a:t>
            </a:r>
            <a:r>
              <a:rPr lang="en-IN" b="1" dirty="0" smtClean="0"/>
              <a:t>         PASSWORD               </a:t>
            </a:r>
            <a:r>
              <a:rPr lang="en-IN" b="1" dirty="0"/>
              <a:t>ROLE              </a:t>
            </a:r>
            <a:r>
              <a:rPr lang="en-IN" b="1" dirty="0" smtClean="0"/>
              <a:t>    REG_DATE</a:t>
            </a:r>
            <a:endParaRPr lang="en-IN" b="1" dirty="0"/>
          </a:p>
          <a:p>
            <a:pPr algn="just"/>
            <a:r>
              <a:rPr lang="en-IN" b="1" dirty="0" smtClean="0"/>
              <a:t>----------    ----------      ----------------------              -----------------            </a:t>
            </a:r>
            <a:r>
              <a:rPr lang="en-IN" b="1" dirty="0"/>
              <a:t>------         </a:t>
            </a:r>
            <a:r>
              <a:rPr lang="en-IN" b="1" dirty="0" smtClean="0"/>
              <a:t>      ----------------</a:t>
            </a:r>
            <a:endParaRPr lang="en-IN" b="1" dirty="0"/>
          </a:p>
          <a:p>
            <a:pPr algn="just"/>
            <a:r>
              <a:rPr lang="en-IN" b="1" dirty="0"/>
              <a:t>    </a:t>
            </a:r>
            <a:r>
              <a:rPr lang="en-IN" b="1" dirty="0" smtClean="0"/>
              <a:t>   101  SHUBHAM  </a:t>
            </a:r>
            <a:r>
              <a:rPr lang="en-IN" b="1" dirty="0"/>
              <a:t>SHUBHAM12@GMAIL.COM   </a:t>
            </a:r>
            <a:r>
              <a:rPr lang="en-IN" b="1" dirty="0" smtClean="0"/>
              <a:t> SHUBHAM@22        PYDEV                   </a:t>
            </a:r>
            <a:r>
              <a:rPr lang="en-IN" b="1" dirty="0"/>
              <a:t>03-JUN-25</a:t>
            </a:r>
          </a:p>
          <a:p>
            <a:pPr algn="just"/>
            <a:r>
              <a:rPr lang="en-IN" b="1" dirty="0"/>
              <a:t>       </a:t>
            </a:r>
            <a:r>
              <a:rPr lang="en-IN" b="1" dirty="0" smtClean="0"/>
              <a:t>102  </a:t>
            </a:r>
            <a:r>
              <a:rPr lang="en-IN" b="1" dirty="0"/>
              <a:t>VEENA       VEENA22@GMAIL.COM        </a:t>
            </a:r>
            <a:r>
              <a:rPr lang="en-IN" b="1" dirty="0" smtClean="0"/>
              <a:t> VEENA#22             DATAANALYST        </a:t>
            </a:r>
            <a:r>
              <a:rPr lang="en-IN" b="1" dirty="0"/>
              <a:t>05-JUN-25</a:t>
            </a:r>
          </a:p>
          <a:p>
            <a:pPr algn="just"/>
            <a:r>
              <a:rPr lang="en-IN" b="1" dirty="0"/>
              <a:t>       </a:t>
            </a:r>
            <a:r>
              <a:rPr lang="en-IN" b="1" dirty="0" smtClean="0"/>
              <a:t>103  </a:t>
            </a:r>
            <a:r>
              <a:rPr lang="en-IN" b="1" dirty="0"/>
              <a:t>JIVIKA      </a:t>
            </a:r>
            <a:r>
              <a:rPr lang="en-IN" b="1" dirty="0" smtClean="0"/>
              <a:t> JIVIKA10@GMAIL.COM           JIVA%15               CLOUCOMPUTING    </a:t>
            </a:r>
            <a:r>
              <a:rPr lang="en-IN" b="1" dirty="0"/>
              <a:t>05-JUN-25</a:t>
            </a:r>
          </a:p>
          <a:p>
            <a:pPr algn="just"/>
            <a:r>
              <a:rPr lang="en-IN" b="1" dirty="0"/>
              <a:t>       104 </a:t>
            </a:r>
            <a:r>
              <a:rPr lang="en-IN" b="1" dirty="0" smtClean="0"/>
              <a:t> PARTH       </a:t>
            </a:r>
            <a:r>
              <a:rPr lang="en-IN" b="1" dirty="0"/>
              <a:t>PARTH4@GMAIL.COM         </a:t>
            </a:r>
            <a:r>
              <a:rPr lang="en-IN" b="1" dirty="0" smtClean="0"/>
              <a:t>   PARU*13              DATASCIENCE          25-MAY-25</a:t>
            </a:r>
            <a:endParaRPr lang="en-IN" b="1" dirty="0"/>
          </a:p>
          <a:p>
            <a:pPr algn="just"/>
            <a:r>
              <a:rPr lang="en-IN" b="1" dirty="0"/>
              <a:t>       </a:t>
            </a:r>
            <a:r>
              <a:rPr lang="en-IN" b="1" dirty="0" smtClean="0"/>
              <a:t>105  </a:t>
            </a:r>
            <a:r>
              <a:rPr lang="en-IN" b="1" dirty="0"/>
              <a:t>ISHU        </a:t>
            </a:r>
            <a:r>
              <a:rPr lang="en-IN" b="1" dirty="0" smtClean="0"/>
              <a:t> ISHU6@GMAIL.COM                ISHU$13              JAVADEVELOPER      </a:t>
            </a:r>
            <a:r>
              <a:rPr lang="en-IN" b="1" dirty="0"/>
              <a:t>23-MAY-25</a:t>
            </a:r>
          </a:p>
          <a:p>
            <a:pPr algn="just"/>
            <a:endParaRPr lang="en-IN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24999"/>
            <a:ext cx="1767840" cy="14904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52401" y="1415684"/>
            <a:ext cx="879107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CREATE TABLE USER1</a:t>
            </a:r>
          </a:p>
          <a:p>
            <a:r>
              <a:rPr lang="en-IN" b="1" dirty="0"/>
              <a:t>(</a:t>
            </a:r>
          </a:p>
          <a:p>
            <a:r>
              <a:rPr lang="en-IN" b="1" dirty="0"/>
              <a:t> USER_ID NUMBER PRIMARY </a:t>
            </a:r>
            <a:r>
              <a:rPr lang="en-IN" b="1" dirty="0" smtClean="0"/>
              <a:t>KEY AUTO INCREMENT,</a:t>
            </a:r>
            <a:endParaRPr lang="en-IN" b="1" dirty="0"/>
          </a:p>
          <a:p>
            <a:r>
              <a:rPr lang="en-IN" b="1" dirty="0"/>
              <a:t> USER_NAME VARCHAR(100),</a:t>
            </a:r>
          </a:p>
          <a:p>
            <a:r>
              <a:rPr lang="en-IN" b="1" dirty="0"/>
              <a:t> EMAIL VARCHAR(50) UNIQUE,</a:t>
            </a:r>
          </a:p>
          <a:p>
            <a:r>
              <a:rPr lang="en-IN" b="1" dirty="0"/>
              <a:t> PASSWORD VARCHAR(20) UNIQUE NOT NULL,</a:t>
            </a:r>
          </a:p>
          <a:p>
            <a:r>
              <a:rPr lang="en-IN" b="1" dirty="0"/>
              <a:t> ROLE VARCHAR(30),</a:t>
            </a:r>
          </a:p>
          <a:p>
            <a:r>
              <a:rPr lang="en-IN" b="1" dirty="0"/>
              <a:t> REG_DATE DATE</a:t>
            </a:r>
          </a:p>
          <a:p>
            <a:r>
              <a:rPr lang="en-IN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711199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6240" y="320040"/>
            <a:ext cx="87477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CREATE TABLE CATEGORY</a:t>
            </a:r>
          </a:p>
          <a:p>
            <a:r>
              <a:rPr lang="en-US" b="1" dirty="0"/>
              <a:t>(</a:t>
            </a:r>
          </a:p>
          <a:p>
            <a:r>
              <a:rPr lang="en-US" b="1" dirty="0"/>
              <a:t>CATEGORY_ID VARCHAR(20) PRIMARY KEY,</a:t>
            </a:r>
          </a:p>
          <a:p>
            <a:r>
              <a:rPr lang="en-US" b="1" dirty="0"/>
              <a:t>CATEGORY_NAME VARCHAR(20) NOT NULL</a:t>
            </a:r>
          </a:p>
          <a:p>
            <a:r>
              <a:rPr lang="en-US" b="1" dirty="0"/>
              <a:t>);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423160"/>
            <a:ext cx="83667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CATEGORY_ID          CATEGORY_NAME</a:t>
            </a:r>
          </a:p>
          <a:p>
            <a:r>
              <a:rPr lang="en-IN" dirty="0" smtClean="0"/>
              <a:t>--------------------       </a:t>
            </a:r>
            <a:r>
              <a:rPr lang="en-IN" dirty="0"/>
              <a:t>--------------------</a:t>
            </a:r>
          </a:p>
          <a:p>
            <a:r>
              <a:rPr lang="en-IN" dirty="0"/>
              <a:t>C001                 </a:t>
            </a:r>
            <a:r>
              <a:rPr lang="en-IN" dirty="0" smtClean="0"/>
              <a:t>      SOFTWARE </a:t>
            </a:r>
            <a:r>
              <a:rPr lang="en-IN" dirty="0"/>
              <a:t>DEVLOPMENT</a:t>
            </a:r>
          </a:p>
          <a:p>
            <a:r>
              <a:rPr lang="en-IN" dirty="0"/>
              <a:t>C002                 </a:t>
            </a:r>
            <a:r>
              <a:rPr lang="en-IN" dirty="0" smtClean="0"/>
              <a:t>      DATA </a:t>
            </a:r>
            <a:r>
              <a:rPr lang="en-IN" dirty="0"/>
              <a:t>SCIENCE</a:t>
            </a:r>
          </a:p>
          <a:p>
            <a:r>
              <a:rPr lang="en-IN" dirty="0"/>
              <a:t>C003                 </a:t>
            </a:r>
            <a:r>
              <a:rPr lang="en-IN" dirty="0" smtClean="0"/>
              <a:t>     FRONTEND </a:t>
            </a:r>
            <a:r>
              <a:rPr lang="en-IN" dirty="0"/>
              <a:t>DEVLOPMENT</a:t>
            </a:r>
          </a:p>
          <a:p>
            <a:r>
              <a:rPr lang="en-IN" dirty="0"/>
              <a:t>C004                </a:t>
            </a:r>
            <a:r>
              <a:rPr lang="en-IN" dirty="0" smtClean="0"/>
              <a:t>      FULL_STACK_DEV</a:t>
            </a:r>
            <a:endParaRPr lang="en-IN" dirty="0"/>
          </a:p>
          <a:p>
            <a:r>
              <a:rPr lang="en-IN" dirty="0"/>
              <a:t>C005                 </a:t>
            </a:r>
            <a:r>
              <a:rPr lang="en-IN" dirty="0" smtClean="0"/>
              <a:t>     NETWORK </a:t>
            </a:r>
            <a:r>
              <a:rPr lang="en-IN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452520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320040"/>
            <a:ext cx="8763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CREATE TABLE </a:t>
            </a:r>
            <a:r>
              <a:rPr lang="en-IN" b="1" dirty="0" smtClean="0"/>
              <a:t>COURSE</a:t>
            </a:r>
          </a:p>
          <a:p>
            <a:r>
              <a:rPr lang="en-IN" b="1" dirty="0" smtClean="0"/>
              <a:t>(</a:t>
            </a:r>
            <a:endParaRPr lang="en-IN" b="1" dirty="0"/>
          </a:p>
          <a:p>
            <a:r>
              <a:rPr lang="en-IN" b="1" dirty="0"/>
              <a:t>  COURSE_ID NUMBER(10) NOT NULL PRIMARY KEY,</a:t>
            </a:r>
          </a:p>
          <a:p>
            <a:r>
              <a:rPr lang="en-IN" b="1" dirty="0"/>
              <a:t>  COURSE_NAME VARCHAR2(100) NOT NULL,</a:t>
            </a:r>
          </a:p>
          <a:p>
            <a:r>
              <a:rPr lang="en-IN" b="1" dirty="0"/>
              <a:t>  DURATION VARCHAR2(50),</a:t>
            </a:r>
          </a:p>
          <a:p>
            <a:r>
              <a:rPr lang="en-IN" b="1" dirty="0"/>
              <a:t>  DESCRIPTION VARCHAR2(50),</a:t>
            </a:r>
          </a:p>
          <a:p>
            <a:r>
              <a:rPr lang="en-IN" b="1" dirty="0"/>
              <a:t>  FEES NUMBER(10),</a:t>
            </a:r>
          </a:p>
          <a:p>
            <a:r>
              <a:rPr lang="en-IN" b="1" dirty="0"/>
              <a:t>  START_DATE DATE,</a:t>
            </a:r>
          </a:p>
          <a:p>
            <a:r>
              <a:rPr lang="en-IN" b="1" dirty="0"/>
              <a:t>  END_DATE DATE,</a:t>
            </a:r>
          </a:p>
          <a:p>
            <a:r>
              <a:rPr lang="en-IN" b="1" dirty="0"/>
              <a:t>  CATEGORY_ID NUMBER(10),</a:t>
            </a:r>
          </a:p>
          <a:p>
            <a:r>
              <a:rPr lang="en-IN" b="1" dirty="0"/>
              <a:t>  TRAINER_ID VARCHAR2(50),</a:t>
            </a:r>
          </a:p>
          <a:p>
            <a:r>
              <a:rPr lang="en-IN" b="1" dirty="0"/>
              <a:t>  USER_ID NUMBER NOT NULL,</a:t>
            </a:r>
          </a:p>
          <a:p>
            <a:r>
              <a:rPr lang="en-IN" b="1" dirty="0"/>
              <a:t>  CONSTRAINT UID_FK FOREIGN KEY (USER_ID) REFERENCES USER1(USER_ID)</a:t>
            </a:r>
          </a:p>
          <a:p>
            <a:r>
              <a:rPr lang="en-IN" b="1" dirty="0"/>
              <a:t>  );</a:t>
            </a:r>
          </a:p>
        </p:txBody>
      </p:sp>
    </p:spTree>
    <p:extLst>
      <p:ext uri="{BB962C8B-B14F-4D97-AF65-F5344CB8AC3E}">
        <p14:creationId xmlns:p14="http://schemas.microsoft.com/office/powerpoint/2010/main" val="22575482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564135"/>
              </p:ext>
            </p:extLst>
          </p:nvPr>
        </p:nvGraphicFramePr>
        <p:xfrm>
          <a:off x="561475" y="1058780"/>
          <a:ext cx="10106525" cy="43702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8936"/>
                <a:gridCol w="738936"/>
                <a:gridCol w="1093010"/>
                <a:gridCol w="1908919"/>
                <a:gridCol w="1086808"/>
                <a:gridCol w="1267327"/>
                <a:gridCol w="737936"/>
                <a:gridCol w="1138990"/>
                <a:gridCol w="930442"/>
                <a:gridCol w="465221"/>
              </a:tblGrid>
              <a:tr h="37936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CID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USER_ID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CATEGORY_ID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CO_NAME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DURATION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DESCRIPTION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FEES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START_DATE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END_DATE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711317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201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101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C001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PYTHON PROGRAMMING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3 MONTHS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BEGINNER TO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30000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15-Jul-25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15-Oct-25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711317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202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C002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DATA SCIENCE            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4 MONTHS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DATA ANALYSIS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25000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01-Aug-25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25-Dec-25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711317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203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103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C003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 WEB DEVELOPMENT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3 MONTHS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HTML CSS JS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18000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20-Jul-25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20-Oct-25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711317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204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104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C004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JAVA FULL STACK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5 MONTHS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JAVA SPRING </a:t>
                      </a:r>
                      <a:r>
                        <a:rPr lang="en-IN" sz="1400" u="none" strike="noStrike" dirty="0" smtClean="0">
                          <a:effectLst/>
                        </a:rPr>
                        <a:t>MYSQL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30000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01-Sep-25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01-Feb-25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711317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205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105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C005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CYBER SECURITY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4 MONTHS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NETWORKING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28000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15-Aug-25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15-Dec-25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379369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33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1600" y="121920"/>
            <a:ext cx="82194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CREATE TABLE ANNOUNCEMENT </a:t>
            </a:r>
          </a:p>
          <a:p>
            <a:r>
              <a:rPr lang="en-US" b="1" dirty="0" smtClean="0"/>
              <a:t>(</a:t>
            </a:r>
          </a:p>
          <a:p>
            <a:r>
              <a:rPr lang="en-US" b="1" dirty="0" smtClean="0"/>
              <a:t>  ANNO_ID NUMBER NOT NULL PRIMARY KEY,</a:t>
            </a:r>
          </a:p>
          <a:p>
            <a:r>
              <a:rPr lang="en-US" b="1" dirty="0" smtClean="0"/>
              <a:t>  TITLE VARCHAR(100) NOT NULL,</a:t>
            </a:r>
          </a:p>
          <a:p>
            <a:r>
              <a:rPr lang="en-US" b="1" dirty="0" smtClean="0"/>
              <a:t>  MESSAGE VARCHAR(100),</a:t>
            </a:r>
          </a:p>
          <a:p>
            <a:r>
              <a:rPr lang="en-US" b="1" dirty="0" smtClean="0"/>
              <a:t>  DATE_TIME VARCHAR(50),</a:t>
            </a:r>
          </a:p>
          <a:p>
            <a:r>
              <a:rPr lang="en-US" b="1" dirty="0" smtClean="0"/>
              <a:t>   COURSE_ID NUMBER(10) NOT NULL ,</a:t>
            </a:r>
          </a:p>
          <a:p>
            <a:r>
              <a:rPr lang="en-US" b="1" dirty="0" smtClean="0"/>
              <a:t>  CONSTRAINT CID_FK FOREIGN KEY(COURSE_ID) REFERENCES COURSE(COURSE_ID)</a:t>
            </a:r>
          </a:p>
          <a:p>
            <a:r>
              <a:rPr lang="en-US" b="1" dirty="0" smtClean="0"/>
              <a:t>);</a:t>
            </a:r>
          </a:p>
          <a:p>
            <a:endParaRPr lang="en-US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495559"/>
              </p:ext>
            </p:extLst>
          </p:nvPr>
        </p:nvGraphicFramePr>
        <p:xfrm>
          <a:off x="2310064" y="2881313"/>
          <a:ext cx="7716252" cy="37280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9208"/>
                <a:gridCol w="2164315"/>
                <a:gridCol w="1458560"/>
                <a:gridCol w="1599711"/>
                <a:gridCol w="1364458"/>
              </a:tblGrid>
              <a:tr h="6213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ANNO_ID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TITLE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MESSAGE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DATE_TIME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COURSE_ID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6213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701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WEB_TECH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STARTED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23-Jun-25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201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6213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702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SPOKEN_ENGLISH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STARTED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20-Oct-25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202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6213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703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CYBER_SECURITY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ENDED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10-Nov-25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203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6213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704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APTITUDE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TODAY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15-Jun-25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204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6213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705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PYTHON_DEMO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STARTED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30-Jun-25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205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9589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920" y="254001"/>
            <a:ext cx="7366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CREATE TABLE  SCHEDULE </a:t>
            </a:r>
          </a:p>
          <a:p>
            <a:r>
              <a:rPr lang="en-US" b="1" dirty="0" smtClean="0"/>
              <a:t>(</a:t>
            </a:r>
          </a:p>
          <a:p>
            <a:r>
              <a:rPr lang="en-US" b="1" dirty="0" smtClean="0"/>
              <a:t> SCHED_ID NUMBER PRIMARY KEY ,</a:t>
            </a:r>
          </a:p>
          <a:p>
            <a:r>
              <a:rPr lang="en-US" b="1" dirty="0" smtClean="0"/>
              <a:t> TOPIC VARCHAR(50) NOT NULL,</a:t>
            </a:r>
          </a:p>
          <a:p>
            <a:r>
              <a:rPr lang="en-US" b="1" dirty="0" smtClean="0"/>
              <a:t> START_TIME VARCHAR(20),</a:t>
            </a:r>
          </a:p>
          <a:p>
            <a:r>
              <a:rPr lang="en-US" b="1" dirty="0" smtClean="0"/>
              <a:t> END_TIME VARCHAR(20),</a:t>
            </a:r>
          </a:p>
          <a:p>
            <a:r>
              <a:rPr lang="en-US" b="1" dirty="0" smtClean="0"/>
              <a:t> SESSION_DATE DATE,</a:t>
            </a:r>
          </a:p>
          <a:p>
            <a:r>
              <a:rPr lang="en-US" b="1" dirty="0" smtClean="0"/>
              <a:t> USER_ID NUMBER NOT NULL,</a:t>
            </a:r>
          </a:p>
          <a:p>
            <a:r>
              <a:rPr lang="en-US" b="1" dirty="0" smtClean="0"/>
              <a:t> CONSTRAINT COURSE_ID_FK FOREIGN KEY(USER_ID) REFERENCES USER1(USER_ID)</a:t>
            </a:r>
          </a:p>
          <a:p>
            <a:r>
              <a:rPr lang="en-US" b="1" dirty="0" smtClean="0"/>
              <a:t>);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044872"/>
              </p:ext>
            </p:extLst>
          </p:nvPr>
        </p:nvGraphicFramePr>
        <p:xfrm>
          <a:off x="574765" y="3390598"/>
          <a:ext cx="8839200" cy="34020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11145"/>
                <a:gridCol w="1925166"/>
                <a:gridCol w="1832013"/>
                <a:gridCol w="2080425"/>
                <a:gridCol w="1490451"/>
              </a:tblGrid>
              <a:tr h="62146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 smtClean="0">
                          <a:effectLst/>
                        </a:rPr>
                        <a:t>TOPIC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 smtClean="0">
                          <a:effectLst/>
                        </a:rPr>
                        <a:t>START_TIME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 smtClean="0">
                          <a:effectLst/>
                        </a:rPr>
                        <a:t>END_TIME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 smtClean="0">
                          <a:effectLst/>
                        </a:rPr>
                        <a:t>SESSION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 smtClean="0">
                          <a:effectLst/>
                        </a:rPr>
                        <a:t>USER_ID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51993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 SQL DQL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N" sz="1800" u="none" strike="noStrike" dirty="0">
                          <a:effectLst/>
                        </a:rPr>
                        <a:t>12:00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u="none" strike="noStrike" dirty="0">
                          <a:effectLst/>
                        </a:rPr>
                        <a:t>02:00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 01-APR-25     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101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606992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 SQL          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N" sz="1800" u="none" strike="noStrike" dirty="0">
                          <a:effectLst/>
                        </a:rPr>
                        <a:t>08:00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u="none" strike="noStrike" dirty="0">
                          <a:effectLst/>
                        </a:rPr>
                        <a:t>10:00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 02-MAY-25     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102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606992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 HTML         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N" sz="1800" u="none" strike="noStrike">
                          <a:effectLst/>
                        </a:rPr>
                        <a:t>01:00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u="none" strike="noStrike" dirty="0">
                          <a:effectLst/>
                        </a:rPr>
                        <a:t>03:00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 09-MAY-25     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103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416376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 JAVA         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N" sz="1800" u="none" strike="noStrike">
                          <a:effectLst/>
                        </a:rPr>
                        <a:t>10:00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u="none" strike="noStrike" dirty="0">
                          <a:effectLst/>
                        </a:rPr>
                        <a:t>12:00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 23-APR-25     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104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627608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 JAVA         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N" sz="1800" u="none" strike="noStrike" dirty="0">
                          <a:effectLst/>
                        </a:rPr>
                        <a:t>12:00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u="none" strike="noStrike" dirty="0">
                          <a:effectLst/>
                        </a:rPr>
                        <a:t>02:00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 23-AUG-25     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105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314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" y="95795"/>
            <a:ext cx="90220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CREATE TABLE CERTIFICATE</a:t>
            </a:r>
          </a:p>
          <a:p>
            <a:r>
              <a:rPr lang="en-IN" b="1" dirty="0"/>
              <a:t>( </a:t>
            </a:r>
          </a:p>
          <a:p>
            <a:r>
              <a:rPr lang="en-IN" b="1" dirty="0"/>
              <a:t> CERT_ID NUMBER  PRIMARY KEY,</a:t>
            </a:r>
          </a:p>
          <a:p>
            <a:r>
              <a:rPr lang="en-IN" b="1" dirty="0"/>
              <a:t> CERT_URL VARCHAR2(100) UNIQUE,</a:t>
            </a:r>
          </a:p>
          <a:p>
            <a:r>
              <a:rPr lang="en-IN" b="1" dirty="0"/>
              <a:t> COURSE_ID NUMBER(10) NOT NULL,</a:t>
            </a:r>
          </a:p>
          <a:p>
            <a:r>
              <a:rPr lang="en-IN" b="1" dirty="0"/>
              <a:t> USER_ID NUMBER NOT NULL,</a:t>
            </a:r>
          </a:p>
          <a:p>
            <a:r>
              <a:rPr lang="en-IN" b="1" dirty="0"/>
              <a:t> ISSUE_DATE DATE,</a:t>
            </a:r>
          </a:p>
          <a:p>
            <a:r>
              <a:rPr lang="en-IN" b="1" dirty="0"/>
              <a:t> CONSTRAINT CUID_FK FOREIGN KEY(COURSE_ID) REFERENCES COURSE(COURSE_ID),</a:t>
            </a:r>
          </a:p>
          <a:p>
            <a:r>
              <a:rPr lang="en-IN" b="1" dirty="0"/>
              <a:t>  CONSTRAINT USID_FK FOREIGN KEY(USER_ID) REFERENCES </a:t>
            </a:r>
          </a:p>
          <a:p>
            <a:r>
              <a:rPr lang="en-IN" b="1" dirty="0"/>
              <a:t>USER1(USER_ID)</a:t>
            </a:r>
          </a:p>
          <a:p>
            <a:r>
              <a:rPr lang="en-IN" b="1" dirty="0"/>
              <a:t>);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906352"/>
              </p:ext>
            </p:extLst>
          </p:nvPr>
        </p:nvGraphicFramePr>
        <p:xfrm>
          <a:off x="879566" y="3196044"/>
          <a:ext cx="7771876" cy="347472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810197"/>
                <a:gridCol w="3024111"/>
                <a:gridCol w="1141461"/>
                <a:gridCol w="1140451"/>
                <a:gridCol w="1655656"/>
              </a:tblGrid>
              <a:tr h="66256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CERT_ID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CERT_URL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COURSE_ID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USER_ID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ISSUE_DATE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6851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111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dirty="0">
                          <a:effectLst/>
                        </a:rPr>
                        <a:t> https://example.com/certs/1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201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101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23-Jan-25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6851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dirty="0">
                          <a:effectLst/>
                        </a:rPr>
                        <a:t> https://example.com/certs/2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202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102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20-May-25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6851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113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 https://example.com/certs/3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203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103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01-Jan-25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75659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114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https://example.com/certs/4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204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104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23-Feb-25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4916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87782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CREATE TABLE </a:t>
            </a:r>
            <a:r>
              <a:rPr lang="en-IN" sz="2000" b="1" dirty="0" smtClean="0"/>
              <a:t>ASSESMENT</a:t>
            </a:r>
          </a:p>
          <a:p>
            <a:r>
              <a:rPr lang="en-IN" sz="2000" b="1" dirty="0" smtClean="0"/>
              <a:t> (</a:t>
            </a:r>
          </a:p>
          <a:p>
            <a:r>
              <a:rPr lang="en-IN" sz="2000" b="1" dirty="0" smtClean="0"/>
              <a:t>ASSIS </a:t>
            </a:r>
            <a:r>
              <a:rPr lang="en-IN" sz="2000" b="1" dirty="0"/>
              <a:t>ID NUMBER(20) PRIMARY KEY</a:t>
            </a:r>
            <a:r>
              <a:rPr lang="en-IN" sz="2000" b="1" dirty="0" smtClean="0"/>
              <a:t>,</a:t>
            </a:r>
          </a:p>
          <a:p>
            <a:r>
              <a:rPr lang="en-IN" sz="2000" b="1" dirty="0" smtClean="0"/>
              <a:t> </a:t>
            </a:r>
            <a:r>
              <a:rPr lang="en-IN" sz="2000" b="1" dirty="0"/>
              <a:t>TLILE VARCHAR(30), </a:t>
            </a:r>
            <a:endParaRPr lang="en-IN" sz="2000" b="1" dirty="0" smtClean="0"/>
          </a:p>
          <a:p>
            <a:r>
              <a:rPr lang="en-IN" sz="2000" b="1" dirty="0" smtClean="0"/>
              <a:t>TOTAL </a:t>
            </a:r>
            <a:r>
              <a:rPr lang="en-IN" sz="2000" b="1" dirty="0"/>
              <a:t>MARKS NUMBER(5,2), </a:t>
            </a:r>
            <a:endParaRPr lang="en-IN" sz="2000" b="1" dirty="0" smtClean="0"/>
          </a:p>
          <a:p>
            <a:r>
              <a:rPr lang="en-IN" sz="2000" b="1" dirty="0" smtClean="0"/>
              <a:t>CID </a:t>
            </a:r>
            <a:r>
              <a:rPr lang="en-IN" sz="2000" b="1" dirty="0"/>
              <a:t>NUMBER(10), </a:t>
            </a:r>
            <a:endParaRPr lang="en-IN" sz="2000" b="1" dirty="0" smtClean="0"/>
          </a:p>
          <a:p>
            <a:r>
              <a:rPr lang="en-IN" sz="2000" b="1" dirty="0" smtClean="0"/>
              <a:t>DUE_DATE </a:t>
            </a:r>
            <a:r>
              <a:rPr lang="en-IN" sz="2000" b="1" dirty="0"/>
              <a:t>DATE, </a:t>
            </a:r>
            <a:endParaRPr lang="en-IN" sz="2000" b="1" dirty="0" smtClean="0"/>
          </a:p>
          <a:p>
            <a:r>
              <a:rPr lang="en-IN" sz="2000" b="1" dirty="0" smtClean="0"/>
              <a:t>CONSTRAINT </a:t>
            </a:r>
            <a:r>
              <a:rPr lang="en-IN" sz="2000" b="1" dirty="0"/>
              <a:t>COID FK FOREIGN KEY (CTD) REFFRENCES COURES4(CID</a:t>
            </a:r>
            <a:r>
              <a:rPr lang="en-IN" sz="2000" b="1" dirty="0" smtClean="0"/>
              <a:t>)</a:t>
            </a:r>
          </a:p>
          <a:p>
            <a:r>
              <a:rPr lang="en-IN" sz="2000" b="1" dirty="0" smtClean="0"/>
              <a:t>);</a:t>
            </a:r>
            <a:endParaRPr lang="en-IN" sz="2000" b="1" dirty="0"/>
          </a:p>
        </p:txBody>
      </p:sp>
      <p:sp>
        <p:nvSpPr>
          <p:cNvPr id="3" name="Rectangle 2"/>
          <p:cNvSpPr/>
          <p:nvPr/>
        </p:nvSpPr>
        <p:spPr>
          <a:xfrm>
            <a:off x="545432" y="3384884"/>
            <a:ext cx="1037924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 ASSIS_ID </a:t>
            </a:r>
            <a:r>
              <a:rPr lang="en-IN" dirty="0" smtClean="0"/>
              <a:t>   TITLE                          </a:t>
            </a:r>
            <a:r>
              <a:rPr lang="en-IN" dirty="0"/>
              <a:t>TOTAL_MARKS        CID </a:t>
            </a:r>
            <a:r>
              <a:rPr lang="en-IN" dirty="0" smtClean="0"/>
              <a:t>   DUEDATE</a:t>
            </a:r>
            <a:endParaRPr lang="en-IN" dirty="0"/>
          </a:p>
          <a:p>
            <a:r>
              <a:rPr lang="en-IN" dirty="0"/>
              <a:t>--------- ------------------------------ ----------- ---------- ---------</a:t>
            </a:r>
          </a:p>
          <a:p>
            <a:r>
              <a:rPr lang="en-IN" dirty="0"/>
              <a:t>      121 </a:t>
            </a:r>
            <a:r>
              <a:rPr lang="en-IN" dirty="0" smtClean="0"/>
              <a:t>   SQL                                   </a:t>
            </a:r>
            <a:r>
              <a:rPr lang="en-IN" dirty="0"/>
              <a:t>70.6       </a:t>
            </a:r>
            <a:r>
              <a:rPr lang="en-IN" dirty="0" smtClean="0"/>
              <a:t>         </a:t>
            </a:r>
            <a:r>
              <a:rPr lang="en-IN" dirty="0"/>
              <a:t>201 </a:t>
            </a:r>
            <a:r>
              <a:rPr lang="en-IN" dirty="0" smtClean="0"/>
              <a:t>     10-MAY-25</a:t>
            </a:r>
            <a:endParaRPr lang="en-IN" dirty="0"/>
          </a:p>
          <a:p>
            <a:r>
              <a:rPr lang="en-IN" dirty="0"/>
              <a:t>      122 </a:t>
            </a:r>
            <a:r>
              <a:rPr lang="en-IN" dirty="0" smtClean="0"/>
              <a:t>  JAVA                                 </a:t>
            </a:r>
            <a:r>
              <a:rPr lang="en-IN" dirty="0"/>
              <a:t>89.45        </a:t>
            </a:r>
            <a:r>
              <a:rPr lang="en-IN" dirty="0" smtClean="0"/>
              <a:t>       202       20-APR-25</a:t>
            </a:r>
            <a:endParaRPr lang="en-IN" dirty="0"/>
          </a:p>
          <a:p>
            <a:r>
              <a:rPr lang="en-IN" dirty="0"/>
              <a:t>      123 </a:t>
            </a:r>
            <a:r>
              <a:rPr lang="en-IN" dirty="0" smtClean="0"/>
              <a:t>  WEB </a:t>
            </a:r>
            <a:r>
              <a:rPr lang="en-IN" dirty="0"/>
              <a:t>DEV                               </a:t>
            </a:r>
            <a:r>
              <a:rPr lang="en-IN" dirty="0" smtClean="0"/>
              <a:t>85               203       01-JUN-25</a:t>
            </a:r>
            <a:endParaRPr lang="en-IN" dirty="0"/>
          </a:p>
          <a:p>
            <a:r>
              <a:rPr lang="en-IN" dirty="0"/>
              <a:t>      124 </a:t>
            </a:r>
            <a:r>
              <a:rPr lang="en-IN" dirty="0" smtClean="0"/>
              <a:t>  JAVA </a:t>
            </a:r>
            <a:r>
              <a:rPr lang="en-IN" dirty="0"/>
              <a:t>FULL STACK             </a:t>
            </a:r>
            <a:r>
              <a:rPr lang="en-IN" dirty="0" smtClean="0"/>
              <a:t>      </a:t>
            </a:r>
            <a:r>
              <a:rPr lang="en-IN" dirty="0"/>
              <a:t>75       </a:t>
            </a:r>
            <a:r>
              <a:rPr lang="en-IN" dirty="0" smtClean="0"/>
              <a:t>        204       03-JUL-25</a:t>
            </a:r>
            <a:endParaRPr lang="en-IN" dirty="0"/>
          </a:p>
          <a:p>
            <a:r>
              <a:rPr lang="en-IN" dirty="0"/>
              <a:t>      125 </a:t>
            </a:r>
            <a:r>
              <a:rPr lang="en-IN" dirty="0" smtClean="0"/>
              <a:t> CYBER </a:t>
            </a:r>
            <a:r>
              <a:rPr lang="en-IN" dirty="0"/>
              <a:t>SECURUTY      </a:t>
            </a:r>
            <a:r>
              <a:rPr lang="en-IN" dirty="0" smtClean="0"/>
              <a:t>           </a:t>
            </a:r>
            <a:r>
              <a:rPr lang="en-IN" dirty="0"/>
              <a:t>95.9        </a:t>
            </a:r>
            <a:r>
              <a:rPr lang="en-IN" dirty="0" smtClean="0"/>
              <a:t>      205       </a:t>
            </a:r>
            <a:r>
              <a:rPr lang="en-IN" dirty="0"/>
              <a:t>15-JAN-25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53783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0520" y="335280"/>
            <a:ext cx="879348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/>
              <a:t>CREATE </a:t>
            </a:r>
            <a:r>
              <a:rPr lang="en-IN" sz="2000" b="1" dirty="0"/>
              <a:t>TABLE PAYMENT </a:t>
            </a:r>
            <a:endParaRPr lang="en-IN" sz="2000" b="1" dirty="0" smtClean="0"/>
          </a:p>
          <a:p>
            <a:r>
              <a:rPr lang="en-IN" sz="2000" b="1" dirty="0" smtClean="0"/>
              <a:t>(</a:t>
            </a:r>
          </a:p>
          <a:p>
            <a:r>
              <a:rPr lang="en-IN" sz="2000" b="1" dirty="0" smtClean="0"/>
              <a:t>PAY </a:t>
            </a:r>
            <a:r>
              <a:rPr lang="en-IN" sz="2000" b="1" dirty="0"/>
              <a:t>ID VARCHAR(50) PRIMARY KEY, </a:t>
            </a:r>
            <a:endParaRPr lang="en-IN" sz="2000" b="1" dirty="0" smtClean="0"/>
          </a:p>
          <a:p>
            <a:r>
              <a:rPr lang="en-IN" sz="2000" b="1" dirty="0" smtClean="0"/>
              <a:t>USER </a:t>
            </a:r>
            <a:r>
              <a:rPr lang="en-IN" sz="2000" b="1" dirty="0"/>
              <a:t>ID NUMBER, </a:t>
            </a:r>
            <a:endParaRPr lang="en-IN" sz="2000" b="1" dirty="0" smtClean="0"/>
          </a:p>
          <a:p>
            <a:r>
              <a:rPr lang="en-IN" sz="2000" b="1" dirty="0" smtClean="0"/>
              <a:t>CID </a:t>
            </a:r>
            <a:r>
              <a:rPr lang="en-IN" sz="2000" b="1" dirty="0"/>
              <a:t>NUMBER(10</a:t>
            </a:r>
            <a:r>
              <a:rPr lang="en-IN" sz="2000" b="1" dirty="0" smtClean="0"/>
              <a:t>),</a:t>
            </a:r>
          </a:p>
          <a:p>
            <a:r>
              <a:rPr lang="en-IN" sz="2000" b="1" dirty="0" smtClean="0"/>
              <a:t> </a:t>
            </a:r>
            <a:r>
              <a:rPr lang="en-IN" sz="2000" b="1" dirty="0"/>
              <a:t>AMOUNT NUMBER(30), </a:t>
            </a:r>
            <a:endParaRPr lang="en-IN" sz="2000" b="1" dirty="0" smtClean="0"/>
          </a:p>
          <a:p>
            <a:r>
              <a:rPr lang="en-IN" sz="2000" b="1" dirty="0" smtClean="0"/>
              <a:t>P </a:t>
            </a:r>
            <a:r>
              <a:rPr lang="en-IN" sz="2000" b="1" dirty="0"/>
              <a:t>METHOD VARCHAR(25</a:t>
            </a:r>
            <a:r>
              <a:rPr lang="en-IN" sz="2000" b="1" dirty="0" smtClean="0"/>
              <a:t>),</a:t>
            </a:r>
          </a:p>
          <a:p>
            <a:r>
              <a:rPr lang="en-IN" sz="2000" b="1" dirty="0" smtClean="0"/>
              <a:t> </a:t>
            </a:r>
            <a:r>
              <a:rPr lang="en-IN" sz="2000" b="1" dirty="0"/>
              <a:t>P_DATE DATE, </a:t>
            </a:r>
            <a:endParaRPr lang="en-IN" sz="2000" b="1" dirty="0" smtClean="0"/>
          </a:p>
          <a:p>
            <a:r>
              <a:rPr lang="en-IN" sz="2000" b="1" dirty="0" smtClean="0"/>
              <a:t>CONSTRAINT </a:t>
            </a:r>
            <a:r>
              <a:rPr lang="en-IN" sz="2000" b="1" dirty="0"/>
              <a:t>COUR_ID_FK FOREIGN KEY(CID) REFERENCES COURES4(CID</a:t>
            </a:r>
            <a:r>
              <a:rPr lang="en-IN" sz="2000" b="1" dirty="0" smtClean="0"/>
              <a:t>)</a:t>
            </a:r>
          </a:p>
          <a:p>
            <a:r>
              <a:rPr lang="en-IN" sz="2000" b="1" dirty="0" smtClean="0"/>
              <a:t>);</a:t>
            </a:r>
            <a:endParaRPr lang="en-IN" sz="20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891721"/>
              </p:ext>
            </p:extLst>
          </p:nvPr>
        </p:nvGraphicFramePr>
        <p:xfrm>
          <a:off x="1813559" y="3346504"/>
          <a:ext cx="8214360" cy="333209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271901"/>
                <a:gridCol w="1271901"/>
                <a:gridCol w="1271901"/>
                <a:gridCol w="1483884"/>
                <a:gridCol w="1589876"/>
                <a:gridCol w="1324897"/>
              </a:tblGrid>
              <a:tr h="49949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PAY_ID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USER_ID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CID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AMMOUNT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P_METHOD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P_DATE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</a:tr>
              <a:tr h="4994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505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101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201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25000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ONLINE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20-Jul-25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6349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506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102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202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50000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OFFLINE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05-Aug-25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687123">
                <a:tc>
                  <a:txBody>
                    <a:bodyPr/>
                    <a:lstStyle/>
                    <a:p>
                      <a:pPr algn="ctr" fontAlgn="b">
                        <a:lnSpc>
                          <a:spcPct val="250000"/>
                        </a:lnSpc>
                      </a:pPr>
                      <a:r>
                        <a:rPr lang="en-IN" sz="1800" u="none" strike="noStrike" dirty="0">
                          <a:effectLst/>
                        </a:rPr>
                        <a:t>507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50000"/>
                        </a:lnSpc>
                      </a:pPr>
                      <a:r>
                        <a:rPr lang="en-IN" sz="1800" u="none" strike="noStrike" dirty="0">
                          <a:effectLst/>
                        </a:rPr>
                        <a:t>103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50000"/>
                        </a:lnSpc>
                      </a:pPr>
                      <a:r>
                        <a:rPr lang="en-IN" sz="1800" u="none" strike="noStrike" dirty="0">
                          <a:effectLst/>
                        </a:rPr>
                        <a:t>203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50000"/>
                        </a:lnSpc>
                      </a:pPr>
                      <a:r>
                        <a:rPr lang="en-IN" sz="1800" u="none" strike="noStrike" dirty="0">
                          <a:effectLst/>
                        </a:rPr>
                        <a:t>18000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50000"/>
                        </a:lnSpc>
                      </a:pPr>
                      <a:r>
                        <a:rPr lang="en-IN" sz="1800" u="none" strike="noStrike" dirty="0">
                          <a:effectLst/>
                        </a:rPr>
                        <a:t>ONLINE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50000"/>
                        </a:lnSpc>
                      </a:pPr>
                      <a:r>
                        <a:rPr lang="en-IN" sz="1800" u="none" strike="noStrike" dirty="0">
                          <a:effectLst/>
                        </a:rPr>
                        <a:t>05-Sep-25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4046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508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104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204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3000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OFFLINE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16-Aug-25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6000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509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105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205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28000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ONLINE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19-Aug-25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2660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-6065520" y="-2712720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181610" y="277446"/>
            <a:ext cx="908431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CREATE TABLE RESULT </a:t>
            </a:r>
          </a:p>
          <a:p>
            <a:r>
              <a:rPr lang="en-IN" sz="2000" b="1" dirty="0"/>
              <a:t>(</a:t>
            </a:r>
          </a:p>
          <a:p>
            <a:r>
              <a:rPr lang="en-IN" sz="2000" b="1" dirty="0"/>
              <a:t>RESULT ID NUMBER(20) PRIMARY KEY, </a:t>
            </a:r>
          </a:p>
          <a:p>
            <a:r>
              <a:rPr lang="en-IN" sz="2000" b="1" dirty="0"/>
              <a:t>ASSIS ID NUMBER (20), </a:t>
            </a:r>
          </a:p>
          <a:p>
            <a:r>
              <a:rPr lang="en-IN" sz="2000" b="1" dirty="0"/>
              <a:t>USER ID NUMRER,</a:t>
            </a:r>
          </a:p>
          <a:p>
            <a:r>
              <a:rPr lang="en-IN" sz="2000" b="1" dirty="0"/>
              <a:t> SCORE VARCHAR(30), </a:t>
            </a:r>
          </a:p>
          <a:p>
            <a:r>
              <a:rPr lang="en-IN" sz="2000" b="1" dirty="0"/>
              <a:t>CONSTRAINT USEID FK FOREIGN KEY(USER ID) REFERENCESUSERY(USFR_ID</a:t>
            </a:r>
            <a:r>
              <a:rPr lang="en-IN" sz="2000" b="1" dirty="0" smtClean="0"/>
              <a:t>)</a:t>
            </a:r>
          </a:p>
          <a:p>
            <a:r>
              <a:rPr lang="en-US" sz="2000" b="1" dirty="0" smtClean="0"/>
              <a:t>);</a:t>
            </a:r>
            <a:endParaRPr lang="en-IN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759725"/>
              </p:ext>
            </p:extLst>
          </p:nvPr>
        </p:nvGraphicFramePr>
        <p:xfrm>
          <a:off x="1508760" y="2831993"/>
          <a:ext cx="7137109" cy="386852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926105"/>
                <a:gridCol w="3019301"/>
                <a:gridCol w="972503"/>
                <a:gridCol w="1219200"/>
              </a:tblGrid>
              <a:tr h="8833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RESULT_ID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ASSIS_ID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USER _ID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SCORE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5970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401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121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101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5970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402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122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102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5970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403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123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103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5970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404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124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104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5970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405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125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105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8669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9411" y="3753853"/>
            <a:ext cx="78445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LOC_NAME	USER_ID	COURSE_ID	</a:t>
            </a:r>
          </a:p>
          <a:p>
            <a:r>
              <a:rPr lang="en-IN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PUNE		101	201</a:t>
            </a:r>
          </a:p>
          <a:p>
            <a:r>
              <a:rPr lang="en-IN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NAGPUR		102	202</a:t>
            </a:r>
          </a:p>
          <a:p>
            <a:r>
              <a:rPr lang="en-IN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MUMBAI	103	203</a:t>
            </a:r>
          </a:p>
          <a:p>
            <a:r>
              <a:rPr lang="en-IN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NASHIK		104	204</a:t>
            </a:r>
          </a:p>
          <a:p>
            <a:r>
              <a:rPr lang="en-IN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KOLHAPUR	105	205	</a:t>
            </a:r>
            <a:endParaRPr lang="en-IN" sz="2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55032" y="657726"/>
            <a:ext cx="79889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CREATE </a:t>
            </a:r>
            <a:r>
              <a:rPr lang="en-IN" b="1" dirty="0"/>
              <a:t>TABLE </a:t>
            </a:r>
            <a:r>
              <a:rPr lang="en-IN" b="1" dirty="0" smtClean="0"/>
              <a:t>LOCATION</a:t>
            </a:r>
          </a:p>
          <a:p>
            <a:r>
              <a:rPr lang="en-IN" b="1" dirty="0" smtClean="0"/>
              <a:t>(</a:t>
            </a:r>
          </a:p>
          <a:p>
            <a:r>
              <a:rPr lang="en-IN" b="1" dirty="0" smtClean="0"/>
              <a:t> </a:t>
            </a:r>
            <a:r>
              <a:rPr lang="en-IN" b="1" dirty="0"/>
              <a:t>LOC_NAME VARCHAR(20),USER_ID NUMBER(10</a:t>
            </a:r>
            <a:r>
              <a:rPr lang="en-IN" b="1" dirty="0" smtClean="0"/>
              <a:t>),</a:t>
            </a:r>
          </a:p>
          <a:p>
            <a:r>
              <a:rPr lang="en-IN" b="1" dirty="0" smtClean="0"/>
              <a:t>CID </a:t>
            </a:r>
            <a:r>
              <a:rPr lang="en-IN" b="1" dirty="0"/>
              <a:t>NUMBER(10), </a:t>
            </a:r>
            <a:endParaRPr lang="en-IN" b="1" dirty="0" smtClean="0"/>
          </a:p>
          <a:p>
            <a:r>
              <a:rPr lang="en-IN" b="1" dirty="0" smtClean="0"/>
              <a:t>CONSTRAINT </a:t>
            </a:r>
            <a:r>
              <a:rPr lang="en-IN" b="1" dirty="0"/>
              <a:t>USID_FK FOREIGN KEY(USER_ID) REFERENCES USER1(USER_ID</a:t>
            </a:r>
            <a:r>
              <a:rPr lang="en-IN" b="1" dirty="0" smtClean="0"/>
              <a:t>)</a:t>
            </a:r>
          </a:p>
          <a:p>
            <a:r>
              <a:rPr lang="en-IN" b="1" dirty="0" smtClean="0"/>
              <a:t>):C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2596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Alternate Process 2"/>
          <p:cNvSpPr/>
          <p:nvPr/>
        </p:nvSpPr>
        <p:spPr>
          <a:xfrm>
            <a:off x="9062720" y="330200"/>
            <a:ext cx="2296160" cy="99568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LEARN ANYTIME ,</a:t>
            </a:r>
          </a:p>
          <a:p>
            <a:pPr algn="ctr"/>
            <a:r>
              <a:rPr lang="en-IN" dirty="0" smtClean="0"/>
              <a:t>ANYWHERE</a:t>
            </a:r>
            <a:endParaRPr lang="en-IN" dirty="0"/>
          </a:p>
        </p:txBody>
      </p:sp>
      <p:sp>
        <p:nvSpPr>
          <p:cNvPr id="4" name="Flowchart: Alternate Process 3"/>
          <p:cNvSpPr/>
          <p:nvPr/>
        </p:nvSpPr>
        <p:spPr>
          <a:xfrm>
            <a:off x="9113520" y="1635760"/>
            <a:ext cx="2194560" cy="90424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SAME TRAINING FOR EVERYONE</a:t>
            </a:r>
            <a:endParaRPr lang="en-IN" dirty="0"/>
          </a:p>
        </p:txBody>
      </p:sp>
      <p:sp>
        <p:nvSpPr>
          <p:cNvPr id="5" name="Flowchart: Alternate Process 4"/>
          <p:cNvSpPr/>
          <p:nvPr/>
        </p:nvSpPr>
        <p:spPr>
          <a:xfrm>
            <a:off x="9215120" y="2727960"/>
            <a:ext cx="2123440" cy="92964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SAVE MONEY</a:t>
            </a:r>
            <a:endParaRPr lang="en-IN" dirty="0"/>
          </a:p>
        </p:txBody>
      </p:sp>
      <p:sp>
        <p:nvSpPr>
          <p:cNvPr id="6" name="Flowchart: Alternate Process 5"/>
          <p:cNvSpPr/>
          <p:nvPr/>
        </p:nvSpPr>
        <p:spPr>
          <a:xfrm>
            <a:off x="9215120" y="4033520"/>
            <a:ext cx="2214880" cy="112776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WORK FOR MANY PEOPLE AT ONES</a:t>
            </a:r>
            <a:endParaRPr lang="en-IN" dirty="0"/>
          </a:p>
        </p:txBody>
      </p:sp>
      <p:sp>
        <p:nvSpPr>
          <p:cNvPr id="7" name="Flowchart: Alternate Process 6"/>
          <p:cNvSpPr/>
          <p:nvPr/>
        </p:nvSpPr>
        <p:spPr>
          <a:xfrm>
            <a:off x="9235440" y="5445760"/>
            <a:ext cx="2194560" cy="91948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EASY TO USE</a:t>
            </a:r>
            <a:endParaRPr lang="en-IN" dirty="0"/>
          </a:p>
        </p:txBody>
      </p:sp>
      <p:sp>
        <p:nvSpPr>
          <p:cNvPr id="12" name="Pentagon 11"/>
          <p:cNvSpPr/>
          <p:nvPr/>
        </p:nvSpPr>
        <p:spPr>
          <a:xfrm>
            <a:off x="4114800" y="2334260"/>
            <a:ext cx="3911600" cy="1859280"/>
          </a:xfrm>
          <a:prstGeom prst="homePlat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>
                <a:solidFill>
                  <a:schemeClr val="tx1"/>
                </a:solidFill>
              </a:rPr>
              <a:t>ADVANTAGES</a:t>
            </a:r>
            <a:endParaRPr lang="en-IN" sz="32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3"/>
            <a:endCxn id="3" idx="1"/>
          </p:cNvCxnSpPr>
          <p:nvPr/>
        </p:nvCxnSpPr>
        <p:spPr>
          <a:xfrm flipV="1">
            <a:off x="8026400" y="828040"/>
            <a:ext cx="1036320" cy="2435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3"/>
            <a:endCxn id="4" idx="1"/>
          </p:cNvCxnSpPr>
          <p:nvPr/>
        </p:nvCxnSpPr>
        <p:spPr>
          <a:xfrm flipV="1">
            <a:off x="8026400" y="2087880"/>
            <a:ext cx="1087120" cy="117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2" idx="3"/>
            <a:endCxn id="7" idx="1"/>
          </p:cNvCxnSpPr>
          <p:nvPr/>
        </p:nvCxnSpPr>
        <p:spPr>
          <a:xfrm>
            <a:off x="8026400" y="3263900"/>
            <a:ext cx="1209040" cy="264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2" idx="3"/>
            <a:endCxn id="6" idx="1"/>
          </p:cNvCxnSpPr>
          <p:nvPr/>
        </p:nvCxnSpPr>
        <p:spPr>
          <a:xfrm>
            <a:off x="8026400" y="3263900"/>
            <a:ext cx="1188720" cy="1333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2" idx="3"/>
            <a:endCxn id="5" idx="1"/>
          </p:cNvCxnSpPr>
          <p:nvPr/>
        </p:nvCxnSpPr>
        <p:spPr>
          <a:xfrm flipV="1">
            <a:off x="8026400" y="3192780"/>
            <a:ext cx="1188720" cy="71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9661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" y="91440"/>
            <a:ext cx="12184760" cy="664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0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" t="11936"/>
          <a:stretch/>
        </p:blipFill>
        <p:spPr>
          <a:xfrm>
            <a:off x="1" y="81281"/>
            <a:ext cx="12049760" cy="673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51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1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0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20" y="66040"/>
            <a:ext cx="1147064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588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00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6334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446</TotalTime>
  <Words>913</Words>
  <Application>Microsoft Office PowerPoint</Application>
  <PresentationFormat>Widescreen</PresentationFormat>
  <Paragraphs>422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Algerian</vt:lpstr>
      <vt:lpstr>Arial</vt:lpstr>
      <vt:lpstr>Bookman Old Style</vt:lpstr>
      <vt:lpstr>Broadway</vt:lpstr>
      <vt:lpstr>Calibri</vt:lpstr>
      <vt:lpstr>Colonna MT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43</cp:revision>
  <dcterms:created xsi:type="dcterms:W3CDTF">2025-07-04T17:15:24Z</dcterms:created>
  <dcterms:modified xsi:type="dcterms:W3CDTF">2025-07-06T14:28:37Z</dcterms:modified>
</cp:coreProperties>
</file>